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dbdf4e6-1531-e44f-47da-96ced937fbf1}">
          <p14:sldIdLst>
            <p14:sldId id="256"/>
          </p14:sldIdLst>
        </p14:section>
        <p14:section name="Problem and solution" id="{2b4a37b6-47d0-50f4-c382-4afaba52a568}">
          <p14:sldIdLst>
            <p14:sldId id="257"/>
            <p14:sldId id="258"/>
          </p14:sldIdLst>
        </p14:section>
        <p14:section name="How it works" id="{217dc98b-8088-2508-53ed-865e18894a85}">
          <p14:sldIdLst>
            <p14:sldId id="259"/>
            <p14:sldId id="260"/>
          </p14:sldIdLst>
        </p14:section>
        <p14:section name="Demos" id="{be86e668-6acc-65c3-71b4-bf12c65b09e7}">
          <p14:sldIdLst>
            <p14:sldId id="261"/>
            <p14:sldId id="262"/>
            <p14:sldId id="263"/>
          </p14:sldIdLst>
        </p14:section>
        <p14:section name="Evidence" id="{39a545e4-6783-b01a-bfce-c60d212203f6}">
          <p14:sldIdLst>
            <p14:sldId id="264"/>
            <p14:sldId id="265"/>
            <p14:sldId id="268"/>
          </p14:sldIdLst>
        </p14:section>
        <p14:section name="Trust" id="{1fb55d88-8fd7-e42f-7bc5-803f6e7df5ed}">
          <p14:sldIdLst>
            <p14:sldId id="266"/>
            <p14:sldId id="267"/>
          </p14:sldIdLst>
        </p14:section>
        <p14:section name="Close" id="{5a774630-7ca5-84f3-9518-94b1eaa2efae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02A35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02A35"/>
                </a:solidFill>
                <a:latin typeface="+mn-lt"/>
              </a:rPr>
              <a:t>Estimated tokens (characters / 4)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tokens</c:v>
                </c:pt>
              </c:strCache>
            </c:strRef>
          </c:tx>
          <c:spPr>
            <a:solidFill>
              <a:srgbClr val="1D6E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02A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6E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727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Deep package</c:v>
                  </c:pt>
                  <c:pt idx="1">
                    <c:v>Whole-repo paste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15145</c:v>
                </c:pt>
                <c:pt idx="1">
                  <c:v>454230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02A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727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0000"/>
          <c:min val="0"/>
        </c:scaling>
        <c:delete val="0"/>
        <c:axPos val="b"/>
        <c:majorGridlines>
          <c:spPr>
            <a:ln w="6350" cap="flat">
              <a:solidFill>
                <a:srgbClr val="DCE6E4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727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Compass coaches how engineers use AI, privately, and gives managers only aggregated, suppressed insights. Everything in this deck runs on synthetic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dora.dev and cloud.google.com DORA 2024 announcement; metr.org July 2025 study. Full list in docs/research/evidence.md.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physically separate stores. The aggregator opens signals.db read-only and never touches private.db. The project folder is read-only; fixes are verified on temporary copies. Nothing leaves the laptop unless the user copies it, or enables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the demo sample 'Catch a missing API requirement'. Show the source link on the correlation-id fact, then jump to the result: three failed criteria, each with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LOGIN-7 defect. Import fixes/fix-no-repro.diff, verify: Not accepted, no reproduction evidence. Import fixes/fix-with-repro.diff: Accepted with evidence. The project folder is never modified.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Hand-off instructions live in docs/handoff/. None of the assistants needs MCP servers or API keys.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10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5486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5486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Compass  |  synthetic data only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Compass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Private workflow coaching for GenAI adoption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AI Engineering Enablement Coach  |  Hackathon submission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Synthetic data only. Runs on a laptop. No API keys.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0" y="1234440"/>
            <a:ext cx="2286000" cy="22860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6"/>
            </a:solidFill>
            <a:prstDash val="solid"/>
          </a:ln>
        </p:spPr>
      </p:sp>
      <p:pic>
        <p:nvPicPr>
          <p:cNvPr id="5" name="Image 0" descr="/tmp/claude-0/-home-claude-compass-ai-coach/3958fdaf-6357-5283-9722-e914f4fad239/scratchpad/deck/img/compass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78308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adoption is up; delivery outcomes are not</a:t>
            </a:r>
            <a:endParaRPr lang="en-US" sz="2800" dirty="0"/>
          </a:p>
        </p:txBody>
      </p:sp>
      <p:sp>
        <p:nvSpPr>
          <p:cNvPr id="3" name="stat-0"/>
          <p:cNvSpPr/>
          <p:nvPr/>
        </p:nvSpPr>
        <p:spPr>
          <a:xfrm>
            <a:off x="457200" y="1097280"/>
            <a:ext cx="256032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-7.2%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574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estimated change in delivery stability for each 25% increase in AI adoption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52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DORA 2024</a:t>
            </a:r>
            <a:endParaRPr lang="en-US" sz="1000" dirty="0"/>
          </a:p>
        </p:txBody>
      </p:sp>
      <p:sp>
        <p:nvSpPr>
          <p:cNvPr id="7" name="stat-1"/>
          <p:cNvSpPr/>
          <p:nvPr/>
        </p:nvSpPr>
        <p:spPr>
          <a:xfrm>
            <a:off x="3291840" y="1097280"/>
            <a:ext cx="256032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20440" y="1234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19%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0574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longer task time for experienced open-source developers using AI tools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852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METR, July 2025 (16 developers, 246 tasks)</a:t>
            </a:r>
            <a:endParaRPr lang="en-US" sz="1000" dirty="0"/>
          </a:p>
        </p:txBody>
      </p:sp>
      <p:sp>
        <p:nvSpPr>
          <p:cNvPr id="11" name="stat-2"/>
          <p:cNvSpPr/>
          <p:nvPr/>
        </p:nvSpPr>
        <p:spPr>
          <a:xfrm>
            <a:off x="6126480" y="1097280"/>
            <a:ext cx="256032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55080" y="1234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39%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0574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developers report little or no trust in AI-generated code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852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DORA 2024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tx1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749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0" descr="/tmp/claude-0/-home-claude-compass-ai-coach/3958fdaf-6357-5283-9722-e914f4fad239/scratchpad/deck/img/chart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3879799"/>
            <a:ext cx="241402" cy="24140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371600" y="36118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Usage dashboards count seats and prompts.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They can't tell an engineer what to change next, and they tempt managers to rank people.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Compass coaches how AI is used, not how much</a:t>
            </a:r>
            <a:endParaRPr lang="en-US" sz="2800" dirty="0"/>
          </a:p>
        </p:txBody>
      </p:sp>
      <p:sp>
        <p:nvSpPr>
          <p:cNvPr id="3" name="pillar-0"/>
          <p:cNvSpPr/>
          <p:nvPr/>
        </p:nvSpPr>
        <p:spPr>
          <a:xfrm>
            <a:off x="457200" y="1097280"/>
            <a:ext cx="2560320" cy="30632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/tmp/claude-0/-home-claude-compass-ai-coach/3958fdaf-6357-5283-9722-e914f4fad239/scratchpad/deck/img/user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142280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920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(private)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3172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Next best actions: observation, action, why, outcome to watch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Tailored to role, stack and project complexity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Dismiss and feedback stay private</a:t>
            </a:r>
            <a:endParaRPr lang="en-US" sz="1200" dirty="0"/>
          </a:p>
        </p:txBody>
      </p:sp>
      <p:sp>
        <p:nvSpPr>
          <p:cNvPr id="8" name="pillar-1"/>
          <p:cNvSpPr/>
          <p:nvPr/>
        </p:nvSpPr>
        <p:spPr>
          <a:xfrm>
            <a:off x="3291840" y="1097280"/>
            <a:ext cx="2560320" cy="30632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2044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/tmp/claude-0/-home-claude-compass-ai-coach/3958fdaf-6357-5283-9722-e914f4fad239/scratchpad/deck/img/users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086" y="142280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1920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 and leader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33172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Gaps shared by at least 5 engineers, with an enablement action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Suppression plus differencing protection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 path to any individual</a:t>
            </a:r>
            <a:endParaRPr lang="en-US" sz="1200" dirty="0"/>
          </a:p>
        </p:txBody>
      </p:sp>
      <p:sp>
        <p:nvSpPr>
          <p:cNvPr id="13" name="pillar-2"/>
          <p:cNvSpPr/>
          <p:nvPr/>
        </p:nvSpPr>
        <p:spPr>
          <a:xfrm>
            <a:off x="6126480" y="1097280"/>
            <a:ext cx="2560320" cy="30632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5508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/tmp/claude-0/-home-claude-compass-ai-coach/3958fdaf-6357-5283-9722-e914f4fad239/scratchpad/deck/img/route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726" y="142280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55080" y="1920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coach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33172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Goal, facts, questions, tool, package, evidence, lesson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Feature or API, UAT defect, meaningful tests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Works with Copilot, Claude Code and Devin as they are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No scoring, ranking or labeling of people. Python standard library only. Works offline.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987552"/>
            <a:ext cx="6629400" cy="3675888"/>
          </a:xfrm>
          <a:prstGeom prst="roundRect">
            <a:avLst>
              <a:gd name="adj" fmla="val 1493"/>
            </a:avLst>
          </a:prstGeom>
          <a:solidFill>
            <a:schemeClr val="bg2"/>
          </a:solidFill>
          <a:ln w="12700">
            <a:solidFill>
              <a:srgbClr val="A9CFC9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548640" y="10332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Engineer laptop, bound to 127.0.0.1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INPUTS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554480" cy="54864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03504" y="155448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Synthetic signals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(usage + PR/CI metadata)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1554480" cy="54864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03504" y="221284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Project folder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(read-only)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871216"/>
            <a:ext cx="1554480" cy="54864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3504" y="2871216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Story, defect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or Jira key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731520" cy="868680"/>
          </a:xfrm>
          <a:prstGeom prst="can">
            <a:avLst/>
          </a:prstGeom>
          <a:solidFill>
            <a:schemeClr val="accent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794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signals.db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read-only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71600" y="3611880"/>
            <a:ext cx="731520" cy="868680"/>
          </a:xfrm>
          <a:prstGeom prst="can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3794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private.db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engineer only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12801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SERVICES (compass/)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1554480"/>
            <a:ext cx="2331720" cy="512064"/>
          </a:xfrm>
          <a:prstGeom prst="roundRect">
            <a:avLst>
              <a:gd name="adj" fmla="val 8929"/>
            </a:avLst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478024" y="1554480"/>
            <a:ext cx="2221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Recommendation engine: rules + persona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23160" y="2157984"/>
            <a:ext cx="2331720" cy="512064"/>
          </a:xfrm>
          <a:prstGeom prst="roundRect">
            <a:avLst>
              <a:gd name="adj" fmla="val 8929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478024" y="2157984"/>
            <a:ext cx="2221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Aggregator: k = 5, no ids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23160" y="2761488"/>
            <a:ext cx="2331720" cy="512064"/>
          </a:xfrm>
          <a:prstGeom prst="roundRect">
            <a:avLst>
              <a:gd name="adj" fmla="val 8929"/>
            </a:avLst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478024" y="2761488"/>
            <a:ext cx="2221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Workflow coach: facts, 3 questions, tool policy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23160" y="3364992"/>
            <a:ext cx="2331720" cy="512064"/>
          </a:xfrm>
          <a:prstGeom prst="roundRect">
            <a:avLst>
              <a:gd name="adj" fmla="val 8929"/>
            </a:avLst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478024" y="3364992"/>
            <a:ext cx="2221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Context budgeter + package: redaction, fencing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23160" y="3968496"/>
            <a:ext cx="2331720" cy="512064"/>
          </a:xfrm>
          <a:prstGeom prst="roundRect">
            <a:avLst>
              <a:gd name="adj" fmla="val 8929"/>
            </a:avLst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478024" y="3968496"/>
            <a:ext cx="2221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Evidence + safe runner: no shell, approvals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074920" y="12801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VIEWS (web/)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74920" y="1554480"/>
            <a:ext cx="1783080" cy="6400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129784" y="1554480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Engineer view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(private)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74920" y="2313432"/>
            <a:ext cx="1783080" cy="6400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129784" y="2313432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Manager and leader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(aggregated)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74920" y="3072384"/>
            <a:ext cx="1783080" cy="6400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129784" y="3072384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Enablement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(eval, audit)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74920" y="3831336"/>
            <a:ext cx="1783080" cy="6400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129784" y="3831336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Workflow coach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(7 steps)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103120" y="1828800"/>
            <a:ext cx="320040" cy="914"/>
          </a:xfrm>
          <a:prstGeom prst="line">
            <a:avLst/>
          </a:prstGeom>
          <a:noFill/>
          <a:ln w="19050">
            <a:solidFill>
              <a:srgbClr val="1D5C63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103120" y="2487168"/>
            <a:ext cx="320040" cy="914"/>
          </a:xfrm>
          <a:prstGeom prst="line">
            <a:avLst/>
          </a:prstGeom>
          <a:noFill/>
          <a:ln w="19050">
            <a:solidFill>
              <a:srgbClr val="1D5C63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103120" y="3145536"/>
            <a:ext cx="320040" cy="914"/>
          </a:xfrm>
          <a:prstGeom prst="line">
            <a:avLst/>
          </a:prstGeom>
          <a:noFill/>
          <a:ln w="19050">
            <a:solidFill>
              <a:srgbClr val="1D5C63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754880" y="1828800"/>
            <a:ext cx="320040" cy="914"/>
          </a:xfrm>
          <a:prstGeom prst="line">
            <a:avLst/>
          </a:prstGeom>
          <a:noFill/>
          <a:ln w="19050">
            <a:solidFill>
              <a:srgbClr val="1D5C63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754880" y="2432304"/>
            <a:ext cx="320040" cy="914"/>
          </a:xfrm>
          <a:prstGeom prst="line">
            <a:avLst/>
          </a:prstGeom>
          <a:noFill/>
          <a:ln w="19050">
            <a:solidFill>
              <a:srgbClr val="1D5C63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754880" y="3035808"/>
            <a:ext cx="320040" cy="914"/>
          </a:xfrm>
          <a:prstGeom prst="line">
            <a:avLst/>
          </a:prstGeom>
          <a:noFill/>
          <a:ln w="19050">
            <a:solidFill>
              <a:srgbClr val="1D5C63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754880" y="3639312"/>
            <a:ext cx="320040" cy="914"/>
          </a:xfrm>
          <a:prstGeom prst="line">
            <a:avLst/>
          </a:prstGeom>
          <a:noFill/>
          <a:ln w="19050">
            <a:solidFill>
              <a:srgbClr val="1D5C63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754880" y="4242816"/>
            <a:ext cx="320040" cy="914"/>
          </a:xfrm>
          <a:prstGeom prst="line">
            <a:avLst/>
          </a:prstGeom>
          <a:noFill/>
          <a:ln w="19050">
            <a:solidFill>
              <a:srgbClr val="1D5C63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7223760" y="12801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OUTSIDE THE LAPTOP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223760" y="1554480"/>
            <a:ext cx="1554480" cy="868680"/>
          </a:xfrm>
          <a:prstGeom prst="roundRect">
            <a:avLst>
              <a:gd name="adj" fmla="val 5263"/>
            </a:avLst>
          </a:prstGeom>
          <a:solidFill>
            <a:schemeClr val="tx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278624" y="155448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Jira (optional)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read-only GET,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token never stored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 flipH="1">
            <a:off x="7040880" y="1984248"/>
            <a:ext cx="182880" cy="914"/>
          </a:xfrm>
          <a:prstGeom prst="line">
            <a:avLst/>
          </a:prstGeom>
          <a:noFill/>
          <a:ln w="19050">
            <a:solidFill>
              <a:srgbClr val="1D5C63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722376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→ user copies the reviewed package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7223760" y="3063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2"/>
                </a:solidFill>
              </a:rPr>
              <a:t>← diffs and reports imported as evidence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223760" y="3520440"/>
            <a:ext cx="1554480" cy="960120"/>
          </a:xfrm>
          <a:prstGeom prst="roundRect">
            <a:avLst>
              <a:gd name="adj" fmla="val 4762"/>
            </a:avLst>
          </a:prstGeom>
          <a:solidFill>
            <a:schemeClr val="tx1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278624" y="3520440"/>
            <a:ext cx="1444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Copilot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Claude 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Devin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858000" y="3931920"/>
            <a:ext cx="365760" cy="914"/>
          </a:xfrm>
          <a:prstGeom prst="line">
            <a:avLst/>
          </a:prstGeom>
          <a:noFill/>
          <a:ln w="19050">
            <a:solidFill>
              <a:srgbClr val="1D5C63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 flipH="1">
            <a:off x="6858000" y="4206240"/>
            <a:ext cx="365760" cy="914"/>
          </a:xfrm>
          <a:prstGeom prst="line">
            <a:avLst/>
          </a:prstGeom>
          <a:noFill/>
          <a:ln w="19050">
            <a:solidFill>
              <a:srgbClr val="C77D1E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journey: seven steps, at most three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68680" y="1353312"/>
            <a:ext cx="7406640" cy="0"/>
          </a:xfrm>
          <a:prstGeom prst="line">
            <a:avLst/>
          </a:prstGeom>
          <a:noFill/>
          <a:ln w="25400">
            <a:solidFill>
              <a:srgbClr val="A9CF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2648" y="1097280"/>
            <a:ext cx="512064" cy="51206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" y="1097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700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Goal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1975104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Story, defect or Jira key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01368" y="1097280"/>
            <a:ext cx="512064" cy="51206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01368" y="1097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700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Facts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1975104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Detected, inferred, confirmed or unknown, with file:line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90088" y="1097280"/>
            <a:ext cx="512064" cy="51206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90088" y="1097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1700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Questions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1975104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Up to 3, each says why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78808" y="1097280"/>
            <a:ext cx="512064" cy="51206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78808" y="1097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886200" y="1700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Tool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886200" y="1975104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Policy first, then fit; "no AI" allowed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67528" y="1097280"/>
            <a:ext cx="512064" cy="51206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67528" y="1097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1700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Package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074920" y="1975104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Lean 4k, Balanced 8k, Deep 16k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56248" y="1097280"/>
            <a:ext cx="512064" cy="51206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56248" y="1097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1700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Evidence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1975104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Local checks, approved runs, imports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44968" y="1097280"/>
            <a:ext cx="512064" cy="512064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44968" y="1097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452360" y="1700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Result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1975104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Verdict per criterion, next action, lesson</a:t>
            </a:r>
            <a:endParaRPr lang="en-US" sz="1000" dirty="0"/>
          </a:p>
        </p:txBody>
      </p:sp>
      <p:sp>
        <p:nvSpPr>
          <p:cNvPr id="32" name="wf-0"/>
          <p:cNvSpPr/>
          <p:nvPr/>
        </p:nvSpPr>
        <p:spPr>
          <a:xfrm>
            <a:off x="457200" y="301752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4360" y="3154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Image 0" descr="/tmp/claude-0/-home-claude-compass-ai-coach/3958fdaf-6357-5283-9722-e914f4fad239/scratchpad/deck/img/route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212" y="3254532"/>
            <a:ext cx="184343" cy="184343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1051560" y="31546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Feature or API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594360" y="36118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Catches missing requirements against your API standard</a:t>
            </a:r>
            <a:endParaRPr lang="en-US" sz="1100" dirty="0"/>
          </a:p>
        </p:txBody>
      </p:sp>
      <p:sp>
        <p:nvSpPr>
          <p:cNvPr id="37" name="wf-1"/>
          <p:cNvSpPr/>
          <p:nvPr/>
        </p:nvSpPr>
        <p:spPr>
          <a:xfrm>
            <a:off x="2560320" y="301752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2697480" y="3154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9" name="Image 1" descr="/tmp/claude-0/-home-claude-compass-ai-coach/3958fdaf-6357-5283-9722-e914f4fad239/scratchpad/deck/img/bug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332" y="3254532"/>
            <a:ext cx="184343" cy="184343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3154680" y="31546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UAT defect</a:t>
            </a:r>
            <a:endParaRPr lang="en-US" sz="1200" dirty="0"/>
          </a:p>
        </p:txBody>
      </p:sp>
      <p:sp>
        <p:nvSpPr>
          <p:cNvPr id="41" name="Text 37"/>
          <p:cNvSpPr txBox="1"/>
          <p:nvPr/>
        </p:nvSpPr>
        <p:spPr>
          <a:xfrm>
            <a:off x="2697480" y="36118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No fix is accepted without a reproduction test</a:t>
            </a:r>
            <a:endParaRPr lang="en-US" sz="1100" dirty="0"/>
          </a:p>
        </p:txBody>
      </p:sp>
      <p:sp>
        <p:nvSpPr>
          <p:cNvPr id="42" name="wf-2"/>
          <p:cNvSpPr/>
          <p:nvPr/>
        </p:nvSpPr>
        <p:spPr>
          <a:xfrm>
            <a:off x="4663440" y="301752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4800600" y="3154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4" name="Image 2" descr="/tmp/claude-0/-home-claude-compass-ai-coach/3958fdaf-6357-5283-9722-e914f4fad239/scratchpad/deck/img/vial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452" y="3254532"/>
            <a:ext cx="184343" cy="184343"/>
          </a:xfrm>
          <a:prstGeom prst="rect">
            <a:avLst/>
          </a:prstGeom>
        </p:spPr>
      </p:pic>
      <p:sp>
        <p:nvSpPr>
          <p:cNvPr id="45" name="Text 40"/>
          <p:cNvSpPr txBox="1"/>
          <p:nvPr/>
        </p:nvSpPr>
        <p:spPr>
          <a:xfrm>
            <a:off x="5257800" y="31546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Meaningful tests</a:t>
            </a:r>
            <a:endParaRPr lang="en-US" sz="1200" dirty="0"/>
          </a:p>
        </p:txBody>
      </p:sp>
      <p:sp>
        <p:nvSpPr>
          <p:cNvPr id="46" name="Text 41"/>
          <p:cNvSpPr txBox="1"/>
          <p:nvPr/>
        </p:nvSpPr>
        <p:spPr>
          <a:xfrm>
            <a:off x="4800600" y="36118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Proves tests fail when the behavior is broken</a:t>
            </a:r>
            <a:endParaRPr lang="en-US" sz="1100" dirty="0"/>
          </a:p>
        </p:txBody>
      </p:sp>
      <p:sp>
        <p:nvSpPr>
          <p:cNvPr id="47" name="wf-3"/>
          <p:cNvSpPr/>
          <p:nvPr/>
        </p:nvSpPr>
        <p:spPr>
          <a:xfrm>
            <a:off x="6766560" y="301752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rgbClr val="A9CFC9"/>
            </a:solidFill>
            <a:prstDash val="solid"/>
          </a:ln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sp>
        <p:nvSpPr>
          <p:cNvPr id="48" name="Shape 43"/>
          <p:cNvSpPr/>
          <p:nvPr/>
        </p:nvSpPr>
        <p:spPr>
          <a:xfrm>
            <a:off x="6903720" y="31546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9" name="Image 3" descr="/tmp/claude-0/-home-claude-compass-ai-coach/3958fdaf-6357-5283-9722-e914f4fad239/scratchpad/deck/img/shield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3572" y="3254532"/>
            <a:ext cx="184343" cy="184343"/>
          </a:xfrm>
          <a:prstGeom prst="rect">
            <a:avLst/>
          </a:prstGeom>
        </p:spPr>
      </p:pic>
      <p:sp>
        <p:nvSpPr>
          <p:cNvPr id="50" name="Text 44"/>
          <p:cNvSpPr txBox="1"/>
          <p:nvPr/>
        </p:nvSpPr>
        <p:spPr>
          <a:xfrm>
            <a:off x="7360920" y="31546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Shared security stage</a:t>
            </a:r>
            <a:endParaRPr lang="en-US" sz="1200" dirty="0"/>
          </a:p>
        </p:txBody>
      </p:sp>
      <p:sp>
        <p:nvSpPr>
          <p:cNvPr id="51" name="Text 45"/>
          <p:cNvSpPr txBox="1"/>
          <p:nvPr/>
        </p:nvSpPr>
        <p:spPr>
          <a:xfrm>
            <a:off x="6903720" y="36118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Secrets, risky patterns, ASVS chapter references</a:t>
            </a:r>
            <a:endParaRPr lang="en-US" sz="1100" dirty="0"/>
          </a:p>
        </p:txBody>
      </p:sp>
      <p:sp>
        <p:nvSpPr>
          <p:cNvPr id="52" name="Text 46"/>
          <p:cNvSpPr txBox="1"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Planned, not shown as working: PR review, docs and onboarding, release and config.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1: a missing API requirement, caught early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Story ORD-12: add an endpoint to cancel an order.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Compass finds the project's API standard and asks whether the operation needs X-Correlation-Id (standards/api-standard.md:10).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It also asks who may call it and which errors it returns.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built-in OpenAPI check reports 1 passed, 3 failed, 1 not checked.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3794760"/>
            <a:ext cx="164592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Not accepted yet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160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Agents fill missing requirements with guesses; those guesses are what fail review.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78808" y="1069848"/>
            <a:ext cx="4535424" cy="3041904"/>
          </a:xfrm>
          <a:prstGeom prst="rect">
            <a:avLst/>
          </a:prstGeom>
          <a:solidFill>
            <a:schemeClr val="bg1"/>
          </a:solidFill>
          <a:ln w="12700">
            <a:solidFill>
              <a:srgbClr val="A9CFC9"/>
            </a:solidFill>
            <a:prstDash val="solid"/>
          </a:ln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pic>
        <p:nvPicPr>
          <p:cNvPr id="8" name="Image 0" descr="/tmp/claude-0/-home-claude-compass-ai-coach/3958fdaf-6357-5283-9722-e914f4fad239/scratchpad/deck/img/api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097280"/>
            <a:ext cx="4480560" cy="2987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2: no reproduction, no acceptance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24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Fix without a test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1024128"/>
            <a:ext cx="237744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663440" y="1024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Fix with a regression test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" y="1389888"/>
            <a:ext cx="4078224" cy="2784161"/>
          </a:xfrm>
          <a:prstGeom prst="rect">
            <a:avLst/>
          </a:prstGeom>
          <a:solidFill>
            <a:schemeClr val="bg1"/>
          </a:solidFill>
          <a:ln w="12700">
            <a:solidFill>
              <a:srgbClr val="A9CFC9"/>
            </a:solidFill>
            <a:prstDash val="solid"/>
          </a:ln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pic>
        <p:nvPicPr>
          <p:cNvPr id="8" name="Image 0" descr="/tmp/claude-0/-home-claude-compass-ai-coach/3958fdaf-6357-5283-9722-e914f4fad239/scratchpad/deck/img/def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4023360" cy="272929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36008" y="1389888"/>
            <a:ext cx="4078224" cy="2313592"/>
          </a:xfrm>
          <a:prstGeom prst="rect">
            <a:avLst/>
          </a:prstGeom>
          <a:solidFill>
            <a:schemeClr val="bg1"/>
          </a:solidFill>
          <a:ln w="12700">
            <a:solidFill>
              <a:srgbClr val="A9CFC9"/>
            </a:solidFill>
            <a:prstDash val="solid"/>
          </a:ln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pic>
        <p:nvPicPr>
          <p:cNvPr id="10" name="Image 1" descr="/tmp/claude-0/-home-claude-compass-ai-coach/3958fdaf-6357-5283-9722-e914f4fad239/scratchpad/deck/img/def7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17320"/>
            <a:ext cx="4023360" cy="225872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37947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Both fixes make the suite pass. Only the second proves the defect was reproduced: its test fails before the fix and passes after, checked on temporary copies.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3: tests that actually detect a seeded defect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Synthetic defect SD-1 seeded at login_service/auth.py:35.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With approval, Compass runs the tests on a temporary copy: one test fails because of the defect.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Tests that pass on broken code (existence or type checks only) are flagged.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built-in secrets check finds the synthetic credential in settings.ini.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3794760"/>
            <a:ext cx="246888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Defect detected, suite flagged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160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A test that passes on broken code proves nothing.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78808" y="1069848"/>
            <a:ext cx="4535424" cy="2570266"/>
          </a:xfrm>
          <a:prstGeom prst="rect">
            <a:avLst/>
          </a:prstGeom>
          <a:solidFill>
            <a:schemeClr val="bg1"/>
          </a:solidFill>
          <a:ln w="12700">
            <a:solidFill>
              <a:srgbClr val="A9CFC9"/>
            </a:solidFill>
            <a:prstDash val="solid"/>
          </a:ln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pic>
        <p:nvPicPr>
          <p:cNvPr id="8" name="Image 0" descr="/tmp/claude-0/-home-claude-compass-ai-coach/3958fdaf-6357-5283-9722-e914f4fad239/scratchpad/deck/img/tests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097280"/>
            <a:ext cx="4480560" cy="251540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Right-sized context, nothing silently dropped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~3.3%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11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Deep package vs pasting the whole 386-file repository: 15,145 vs 454,230 estimated tokens.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Lean ~4k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0" y="2788920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4592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Balanced ~8k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2788920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3464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Deep ~16k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00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Lean and Balanced report an overflow for that task instead of dropping a file the task names.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206240" y="1051560"/>
          <a:ext cx="44805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Estimates, not Copilot, Claude or Devin billing. On the tiny fixtures the package is slightly larger than the project (3,716 vs 2,977) because it adds goal, facts, questions and criteria.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evidence: a missing tool is never a pass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23444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passed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143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check ran and found nothing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23444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916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failed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691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Finding with file:line and the next step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123444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2402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not checked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Tool missing or not approved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1234440" cy="27432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7889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blocked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Report malformed or run refused</a:t>
            </a:r>
            <a:endParaRPr lang="en-US" sz="1200" dirty="0"/>
          </a:p>
        </p:txBody>
      </p:sp>
      <p:sp>
        <p:nvSpPr>
          <p:cNvPr id="15" name="scanners"/>
          <p:cNvSpPr/>
          <p:nvPr/>
        </p:nvSpPr>
        <p:spPr>
          <a:xfrm>
            <a:off x="457200" y="3429000"/>
            <a:ext cx="34747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94360" y="35204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Real scanners verified through the approval flow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gitleaks 8.30.1, Semgrep 1.181.0 (metrics off, local rules), Spectral 6.17.0, plus JUnit and unittest reports.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78808" y="1069848"/>
            <a:ext cx="4535424" cy="2753681"/>
          </a:xfrm>
          <a:prstGeom prst="rect">
            <a:avLst/>
          </a:prstGeom>
          <a:solidFill>
            <a:schemeClr val="bg1"/>
          </a:solidFill>
          <a:ln w="12700">
            <a:solidFill>
              <a:srgbClr val="A9CFC9"/>
            </a:solidFill>
            <a:prstDash val="solid"/>
          </a:ln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pic>
        <p:nvPicPr>
          <p:cNvPr id="18" name="Image 0" descr="/tmp/claude-0/-home-claude-compass-ai-coach/3958fdaf-6357-5283-9722-e914f4fad239/scratchpad/deck/img/tests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097280"/>
            <a:ext cx="4480560" cy="269881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is designed in, not configured later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mage 0" descr="/tmp/claude-0/-home-claude-compass-ai-coach/3958fdaf-6357-5283-9722-e914f4fad239/scratchpad/deck/img/db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317" y="1211397"/>
            <a:ext cx="210678" cy="21067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051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Two separate stores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signals.db for aggregation (read-only); private.db for the engineer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810512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1" descr="/tmp/claude-0/-home-claude-compass-ai-coach/3958fdaf-6357-5283-9722-e914f4fad239/scratchpad/deck/img/users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17" y="1924629"/>
            <a:ext cx="210678" cy="21067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51560" y="1764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 = 5 suppression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051560" y="20391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Teams under 5 show nothing; differencing blocked in totals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252374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2" descr="/tmp/claude-0/-home-claude-compass-ai-coach/3958fdaf-6357-5283-9722-e914f4fad239/scratchpad/deck/img/ban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17" y="2637861"/>
            <a:ext cx="210678" cy="21067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51560" y="24780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 ranking, anywhere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051560" y="27523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 compliance check fails the build if scores or rankings appear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36976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3" descr="/tmp/claude-0/-home-claude-compass-ai-coach/3958fdaf-6357-5283-9722-e914f4fad239/scratchpad/deck/img/eye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317" y="3351093"/>
            <a:ext cx="210678" cy="21067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51560" y="31912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Private by default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1051560" y="34655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Dismiss, feedback and history: engineer-only, deletable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57200" y="3950208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4" descr="/tmp/claude-0/-home-claude-compass-ai-coach/3958fdaf-6357-5283-9722-e914f4fad239/scratchpad/deck/img/filter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317" y="4064325"/>
            <a:ext cx="210678" cy="21067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51560" y="39044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Data minimization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1051560" y="41788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Metadata only: no code, prompt text or free text stored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636008" y="1161288"/>
            <a:ext cx="4078224" cy="1677187"/>
          </a:xfrm>
          <a:prstGeom prst="rect">
            <a:avLst/>
          </a:prstGeom>
          <a:solidFill>
            <a:schemeClr val="bg1"/>
          </a:solidFill>
          <a:ln w="12700">
            <a:solidFill>
              <a:srgbClr val="A9CFC9"/>
            </a:solidFill>
            <a:prstDash val="solid"/>
          </a:ln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pic>
        <p:nvPicPr>
          <p:cNvPr id="24" name="Image 5" descr="/tmp/claude-0/-home-claude-compass-ai-coach/3958fdaf-6357-5283-9722-e914f4fad239/scratchpad/deck/img/sup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1188720"/>
            <a:ext cx="4023360" cy="1622323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663440" y="2926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A manager of a team below the threshold sees no data at all.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guardrails for running on real projects</a:t>
            </a:r>
            <a:endParaRPr lang="en-US" sz="2800" dirty="0"/>
          </a:p>
        </p:txBody>
      </p:sp>
      <p:sp>
        <p:nvSpPr>
          <p:cNvPr id="3" name="sec-0"/>
          <p:cNvSpPr/>
          <p:nvPr/>
        </p:nvSpPr>
        <p:spPr>
          <a:xfrm>
            <a:off x="457200" y="1051560"/>
            <a:ext cx="4023360" cy="978408"/>
          </a:xfrm>
          <a:prstGeom prst="roundRect">
            <a:avLst>
              <a:gd name="adj" fmla="val 74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/tmp/claude-0/-home-claude-compass-ai-coach/3958fdaf-6357-5283-9722-e914f4fad239/scratchpad/deck/img/terminal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41091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170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 shell, ever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463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Named command templates, validated arguments, minimal environment, timeouts</a:t>
            </a:r>
            <a:endParaRPr lang="en-US" sz="1100" dirty="0"/>
          </a:p>
        </p:txBody>
      </p:sp>
      <p:sp>
        <p:nvSpPr>
          <p:cNvPr id="8" name="sec-1"/>
          <p:cNvSpPr/>
          <p:nvPr/>
        </p:nvSpPr>
        <p:spPr>
          <a:xfrm>
            <a:off x="4663440" y="1051560"/>
            <a:ext cx="4023360" cy="978408"/>
          </a:xfrm>
          <a:prstGeom prst="roundRect">
            <a:avLst>
              <a:gd name="adj" fmla="val 74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280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/tmp/claude-0/-home-claude-compass-ai-coach/3958fdaf-6357-5283-9722-e914f4fad239/scratchpad/deck/img/fingerprint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079" y="141091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170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Pinned, approved scanners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532120" y="1463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Approved once and pinned by SHA-256; a changed binary is refused</a:t>
            </a:r>
            <a:endParaRPr lang="en-US" sz="1100" dirty="0"/>
          </a:p>
        </p:txBody>
      </p:sp>
      <p:sp>
        <p:nvSpPr>
          <p:cNvPr id="13" name="sec-2"/>
          <p:cNvSpPr/>
          <p:nvPr/>
        </p:nvSpPr>
        <p:spPr>
          <a:xfrm>
            <a:off x="457200" y="2212848"/>
            <a:ext cx="4023360" cy="978408"/>
          </a:xfrm>
          <a:prstGeom prst="roundRect">
            <a:avLst>
              <a:gd name="adj" fmla="val 74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244144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/tmp/claude-0/-home-claude-compass-ai-coach/3958fdaf-6357-5283-9722-e914f4fad239/scratchpad/deck/img/folder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2572207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Read-only project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1325880" y="26243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Allowed folders only; no traversal, symlinks or credential files</a:t>
            </a:r>
            <a:endParaRPr lang="en-US" sz="1100" dirty="0"/>
          </a:p>
        </p:txBody>
      </p:sp>
      <p:sp>
        <p:nvSpPr>
          <p:cNvPr id="18" name="sec-3"/>
          <p:cNvSpPr/>
          <p:nvPr/>
        </p:nvSpPr>
        <p:spPr>
          <a:xfrm>
            <a:off x="4663440" y="2212848"/>
            <a:ext cx="4023360" cy="978408"/>
          </a:xfrm>
          <a:prstGeom prst="roundRect">
            <a:avLst>
              <a:gd name="adj" fmla="val 74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46320" y="244144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/tmp/claude-0/-home-claude-compass-ai-coach/3958fdaf-6357-5283-9722-e914f4fad239/scratchpad/deck/img/shield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079" y="2572207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32120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Untrusted text stays data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532120" y="26243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Prompt-injection phrases flagged and fenced; secrets redacted on export</a:t>
            </a:r>
            <a:endParaRPr lang="en-US" sz="1100" dirty="0"/>
          </a:p>
        </p:txBody>
      </p:sp>
      <p:sp>
        <p:nvSpPr>
          <p:cNvPr id="23" name="sec-4"/>
          <p:cNvSpPr/>
          <p:nvPr/>
        </p:nvSpPr>
        <p:spPr>
          <a:xfrm>
            <a:off x="457200" y="3374136"/>
            <a:ext cx="4023360" cy="978408"/>
          </a:xfrm>
          <a:prstGeom prst="roundRect">
            <a:avLst>
              <a:gd name="adj" fmla="val 74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40080" y="360273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4" descr="/tmp/claude-0/-home-claude-compass-ai-coach/3958fdaf-6357-5283-9722-e914f4fad239/scratchpad/deck/img/network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" y="3733495"/>
            <a:ext cx="241402" cy="2414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25880" y="34930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Localhost only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1325880" y="378561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127.0.0.1 with Host, Origin and JSON checks against other websites</a:t>
            </a:r>
            <a:endParaRPr lang="en-US" sz="1100" dirty="0"/>
          </a:p>
        </p:txBody>
      </p:sp>
      <p:sp>
        <p:nvSpPr>
          <p:cNvPr id="28" name="sec-5"/>
          <p:cNvSpPr/>
          <p:nvPr/>
        </p:nvSpPr>
        <p:spPr>
          <a:xfrm>
            <a:off x="4663440" y="3374136"/>
            <a:ext cx="4023360" cy="978408"/>
          </a:xfrm>
          <a:prstGeom prst="roundRect">
            <a:avLst>
              <a:gd name="adj" fmla="val 74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846320" y="360273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5" descr="/tmp/claude-0/-home-claude-compass-ai-coach/3958fdaf-6357-5283-9722-e914f4fad239/scratchpad/deck/img/key-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7079" y="3733495"/>
            <a:ext cx="241402" cy="2414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532120" y="34930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Jira read-only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5532120" y="378561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One pinned https host; the token is never written to disk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Quality, measured and repeatable</a:t>
            </a:r>
            <a:endParaRPr lang="en-US" sz="2800" dirty="0"/>
          </a:p>
        </p:txBody>
      </p:sp>
      <p:sp>
        <p:nvSpPr>
          <p:cNvPr id="3" name="q-0"/>
          <p:cNvSpPr/>
          <p:nvPr/>
        </p:nvSpPr>
        <p:spPr>
          <a:xfrm>
            <a:off x="457200" y="109728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 / 74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116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automated tests pass</a:t>
            </a:r>
            <a:endParaRPr lang="en-US" sz="1200" dirty="0"/>
          </a:p>
        </p:txBody>
      </p:sp>
      <p:sp>
        <p:nvSpPr>
          <p:cNvPr id="6" name="q-1"/>
          <p:cNvSpPr/>
          <p:nvPr/>
        </p:nvSpPr>
        <p:spPr>
          <a:xfrm>
            <a:off x="2560320" y="109728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697480" y="1234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/ 25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0116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seeded scenarios pass (target 80%)</a:t>
            </a:r>
            <a:endParaRPr lang="en-US" sz="1200" dirty="0"/>
          </a:p>
        </p:txBody>
      </p:sp>
      <p:sp>
        <p:nvSpPr>
          <p:cNvPr id="9" name="q-2"/>
          <p:cNvSpPr/>
          <p:nvPr/>
        </p:nvSpPr>
        <p:spPr>
          <a:xfrm>
            <a:off x="4663440" y="109728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00600" y="1234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16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0116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prompt-routing stories</a:t>
            </a:r>
            <a:endParaRPr lang="en-US" sz="1200" dirty="0"/>
          </a:p>
        </p:txBody>
      </p:sp>
      <p:sp>
        <p:nvSpPr>
          <p:cNvPr id="12" name="q-3"/>
          <p:cNvSpPr/>
          <p:nvPr/>
        </p:nvSpPr>
        <p:spPr>
          <a:xfrm>
            <a:off x="6766560" y="109728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903720" y="1234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/ 37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0116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personas get complete recommendations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82296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rgbClr val="A9CF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2918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mage 0" descr="/tmp/claude-0/-home-claude-compass-ai-coach/3958fdaf-6357-5283-9722-e914f4fad239/scratchpad/deck/img/check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3410712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325880" y="3200400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Every scenario must be relevant, complete, explainable, actionable and persona-specific to pass.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 team wrote the scenarios, so 100% is a regression baseline, not held-out accuracy.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CI runs on Windows and Linux with Python 3.9 and 3.12. Reports: reports/eval-report.md, docs/measurements.md.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Compass maps to the scoring guide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22960"/>
                <a:gridCol w="5303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Area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Weight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What we show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Problem fit and innovation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All 14 acceptance criteria tested; coaches how AI is used, not how much; three live demos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Business impact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25%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 new licenses or infrastructure; drops into any repo; pilot plan with success criteria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Tech excellence and AI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Context budgeter (~3.3% of a whole-repo paste); 25/25 eval; 74 tests; real scanner evidence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Demo and delivery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One-click start; 5-minute demo script; architecture, setup, user guide, security docs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NFRs and governance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Localhost, no shell, pinned tools, k = 5, audit of role, path and status only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pilot, scale, and an independent check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ROADMAP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76656" y="1463040"/>
            <a:ext cx="0" cy="2651760"/>
          </a:xfrm>
          <a:prstGeom prst="line">
            <a:avLst/>
          </a:prstGeom>
          <a:noFill/>
          <a:ln w="25400">
            <a:solidFill>
              <a:srgbClr val="A9CF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256032" cy="256032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344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Now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6276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MVP: private coaching, aggregated insights, workflow coach, agent kit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256032" cy="25603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Pilot, 4-6 weeks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6791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2-3 volunteer teams, authorized metadata only, SSO, k reviewed (consider 10)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256032" cy="25603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447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Scale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7307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VS Code extension shell, more workflows, central agent-kit repository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HAND-OFF FOR VERIFICATION</a:t>
            </a:r>
            <a:endParaRPr lang="en-US" sz="1100" dirty="0"/>
          </a:p>
        </p:txBody>
      </p:sp>
      <p:sp>
        <p:nvSpPr>
          <p:cNvPr id="15" name="ho-0"/>
          <p:cNvSpPr/>
          <p:nvPr/>
        </p:nvSpPr>
        <p:spPr>
          <a:xfrm>
            <a:off x="4663440" y="1325880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5270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0060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Devin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40680" y="1691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Independent Linux run; installs scanners from the approved artifact repository</a:t>
            </a:r>
            <a:endParaRPr lang="en-US" sz="1100" dirty="0"/>
          </a:p>
        </p:txBody>
      </p:sp>
      <p:sp>
        <p:nvSpPr>
          <p:cNvPr id="20" name="ho-1"/>
          <p:cNvSpPr/>
          <p:nvPr/>
        </p:nvSpPr>
        <p:spPr>
          <a:xfrm>
            <a:off x="4663440" y="2377440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578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0060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GitHub Copilot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40680" y="2743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Windows run-through, sample-data mapping, deck and submission text</a:t>
            </a:r>
            <a:endParaRPr lang="en-US" sz="1100" dirty="0"/>
          </a:p>
        </p:txBody>
      </p:sp>
      <p:sp>
        <p:nvSpPr>
          <p:cNvPr id="25" name="ho-2"/>
          <p:cNvSpPr/>
          <p:nvPr/>
        </p:nvSpPr>
        <p:spPr>
          <a:xfrm>
            <a:off x="4663440" y="3429000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A364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6301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0060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40680" y="3520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Claude Code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40680" y="3794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Code and security review, final pre-submission check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 the workflow, not the person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Double-click Start-Coach.bat, or run python -m compass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github.com/Kalyanraja/compass-ai-coach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Synthetic data only. MIT licensed.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0" y="1234440"/>
            <a:ext cx="2286000" cy="22860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6"/>
            </a:solidFill>
            <a:prstDash val="solid"/>
          </a:ln>
        </p:spPr>
      </p:sp>
      <p:pic>
        <p:nvPicPr>
          <p:cNvPr id="5" name="Image 0" descr="/tmp/claude-0/-home-claude-compass-ai-coach/3958fdaf-6357-5283-9722-e914f4fad239/scratchpad/deck/img/compass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78308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mpass">
  <a:themeElements>
    <a:clrScheme name="Compass">
      <a:dk1>
        <a:srgbClr val="102A35"/>
      </a:dk1>
      <a:lt1>
        <a:srgbClr val="FFFFFF"/>
      </a:lt1>
      <a:dk2>
        <a:srgbClr val="1D5C63"/>
      </a:dk2>
      <a:lt2>
        <a:srgbClr val="EEF4F3"/>
      </a:lt2>
      <a:accent1>
        <a:srgbClr val="1D6E6B"/>
      </a:accent1>
      <a:accent2>
        <a:srgbClr val="C77D1E"/>
      </a:accent2>
      <a:accent3>
        <a:srgbClr val="B8432F"/>
      </a:accent3>
      <a:accent4>
        <a:srgbClr val="2E7D4F"/>
      </a:accent4>
      <a:accent5>
        <a:srgbClr val="5E7279"/>
      </a:accent5>
      <a:accent6>
        <a:srgbClr val="A9CFC9"/>
      </a:accent6>
      <a:hlink>
        <a:srgbClr val="1D6E6B"/>
      </a:hlink>
      <a:folHlink>
        <a:srgbClr val="5E7279"/>
      </a:folHlink>
    </a:clrScheme>
    <a:fontScheme name="Compas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Compass: private workflow coaching for GenAI adoption</dc:title>
  <dc:subject>PptxGenJS Presentation</dc:subject>
  <dc:creator>Compass team</dc:creator>
  <cp:lastModifiedBy>Compass team</cp:lastModifiedBy>
  <cp:revision>1</cp:revision>
  <dcterms:created xsi:type="dcterms:W3CDTF">2026-10-15T16:26:28Z</dcterms:created>
  <dcterms:modified xsi:type="dcterms:W3CDTF">2026-10-15T16:26:28Z</dcterms:modified>
</cp:coreProperties>
</file>